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Roboto"/>
      <p:regular r:id="rId12"/>
      <p:bold r:id="rId13"/>
      <p:italic r:id="rId14"/>
      <p:boldItalic r:id="rId15"/>
    </p:embeddedFont>
    <p:embeddedFont>
      <p:font typeface="Inter SemiBold"/>
      <p:regular r:id="rId16"/>
      <p:bold r:id="rId17"/>
      <p:italic r:id="rId18"/>
      <p:boldItalic r:id="rId19"/>
    </p:embeddedFont>
    <p:embeddedFont>
      <p:font typeface="Inter"/>
      <p:bold r:id="rId20"/>
      <p:boldItalic r:id="rId21"/>
    </p:embeddedFont>
    <p:embeddedFont>
      <p:font typeface="Urbanist SemiBold"/>
      <p:regular r:id="rId22"/>
      <p:bold r:id="rId23"/>
      <p:italic r:id="rId24"/>
      <p:boldItalic r:id="rId25"/>
    </p:embeddedFont>
    <p:embeddedFont>
      <p:font typeface="Urbanist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UrbanistSemiBold-regular.fntdata"/><Relationship Id="rId21" Type="http://schemas.openxmlformats.org/officeDocument/2006/relationships/font" Target="fonts/Inter-boldItalic.fntdata"/><Relationship Id="rId24" Type="http://schemas.openxmlformats.org/officeDocument/2006/relationships/font" Target="fonts/UrbanistSemiBold-italic.fntdata"/><Relationship Id="rId23" Type="http://schemas.openxmlformats.org/officeDocument/2006/relationships/font" Target="fonts/Urbanist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Urbanist-regular.fntdata"/><Relationship Id="rId25" Type="http://schemas.openxmlformats.org/officeDocument/2006/relationships/font" Target="fonts/UrbanistSemiBold-boldItalic.fntdata"/><Relationship Id="rId28" Type="http://schemas.openxmlformats.org/officeDocument/2006/relationships/font" Target="fonts/Urbanist-italic.fntdata"/><Relationship Id="rId27" Type="http://schemas.openxmlformats.org/officeDocument/2006/relationships/font" Target="fonts/Urbanis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Urbanis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7" Type="http://schemas.openxmlformats.org/officeDocument/2006/relationships/font" Target="fonts/InterSemiBold-bold.fntdata"/><Relationship Id="rId16" Type="http://schemas.openxmlformats.org/officeDocument/2006/relationships/font" Target="fonts/InterSemiBold-regular.fntdata"/><Relationship Id="rId19" Type="http://schemas.openxmlformats.org/officeDocument/2006/relationships/font" Target="fonts/InterSemiBold-boldItalic.fntdata"/><Relationship Id="rId18" Type="http://schemas.openxmlformats.org/officeDocument/2006/relationships/font" Target="fonts/Inter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36f421f82d3f7845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36f421f82d3f784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h36f421f82d3f7845_15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h36f421f82d3f7845_15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9.png"/><Relationship Id="rId8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2.png"/><Relationship Id="rId7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004288" y="2782504"/>
            <a:ext cx="8183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EA5E9"/>
                </a:solidFill>
                <a:latin typeface="Roboto"/>
                <a:ea typeface="Roboto"/>
                <a:cs typeface="Roboto"/>
                <a:sym typeface="Roboto"/>
              </a:rPr>
              <a:t>Case Study – SecOps Engineer 2026 </a:t>
            </a:r>
            <a:endParaRPr sz="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/>
        </p:nvSpPr>
        <p:spPr>
          <a:xfrm>
            <a:off x="771525" y="581025"/>
            <a:ext cx="1138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0EA5E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Network Segmentation </a:t>
            </a:r>
            <a:endParaRPr/>
          </a:p>
        </p:txBody>
      </p:sp>
      <p:sp>
        <p:nvSpPr>
          <p:cNvPr id="91" name="Google Shape;91;p14"/>
          <p:cNvSpPr/>
          <p:nvPr/>
        </p:nvSpPr>
        <p:spPr>
          <a:xfrm>
            <a:off x="581025" y="581025"/>
            <a:ext cx="57300" cy="5049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8717"/>
          <a:stretch/>
        </p:blipFill>
        <p:spPr>
          <a:xfrm>
            <a:off x="1708354" y="1600200"/>
            <a:ext cx="8775300" cy="4368900"/>
          </a:xfrm>
          <a:prstGeom prst="roundRect">
            <a:avLst>
              <a:gd fmla="val 348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5" title="watermarked_img_3634742611864380425.jpg"/>
          <p:cNvPicPr preferRelativeResize="0"/>
          <p:nvPr/>
        </p:nvPicPr>
        <p:blipFill rotWithShape="1">
          <a:blip r:embed="rId4">
            <a:alphaModFix/>
          </a:blip>
          <a:srcRect b="0" l="209" r="219" t="0"/>
          <a:stretch/>
        </p:blipFill>
        <p:spPr>
          <a:xfrm>
            <a:off x="6381750" y="1466850"/>
            <a:ext cx="5229225" cy="4286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" name="Google Shape;99;p15"/>
          <p:cNvGrpSpPr/>
          <p:nvPr/>
        </p:nvGrpSpPr>
        <p:grpSpPr>
          <a:xfrm>
            <a:off x="581025" y="1428750"/>
            <a:ext cx="5238900" cy="2000100"/>
            <a:chOff x="0" y="0"/>
            <a:chExt cx="5238900" cy="2000100"/>
          </a:xfrm>
        </p:grpSpPr>
        <p:sp>
          <p:nvSpPr>
            <p:cNvPr id="100" name="Google Shape;100;p15"/>
            <p:cNvSpPr/>
            <p:nvPr/>
          </p:nvSpPr>
          <p:spPr>
            <a:xfrm>
              <a:off x="0" y="0"/>
              <a:ext cx="5238900" cy="2000100"/>
            </a:xfrm>
            <a:prstGeom prst="roundRect">
              <a:avLst>
                <a:gd fmla="val 7619" name="adj"/>
              </a:avLst>
            </a:prstGeom>
            <a:solidFill>
              <a:srgbClr val="0F172A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190500" y="190500"/>
              <a:ext cx="1524000" cy="266700"/>
            </a:xfrm>
            <a:prstGeom prst="roundRect">
              <a:avLst>
                <a:gd fmla="val 21428" name="adj"/>
              </a:avLst>
            </a:prstGeom>
            <a:solidFill>
              <a:srgbClr val="EF4444">
                <a:alpha val="15000"/>
              </a:srgbClr>
            </a:solidFill>
            <a:ln cap="flat" cmpd="sng" w="9525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5"/>
            <p:cNvSpPr txBox="1"/>
            <p:nvPr/>
          </p:nvSpPr>
          <p:spPr>
            <a:xfrm>
              <a:off x="190500" y="190500"/>
              <a:ext cx="15240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CA5A5"/>
                  </a:solidFill>
                  <a:latin typeface="Inter"/>
                  <a:ea typeface="Inter"/>
                  <a:cs typeface="Inter"/>
                  <a:sym typeface="Inter"/>
                </a:rPr>
                <a:t>TRUYỀN THỐNG (VPN)</a:t>
              </a:r>
              <a:endParaRPr b="1" sz="1000">
                <a:solidFill>
                  <a:srgbClr val="FCA5A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3" name="Google Shape;103;p15"/>
          <p:cNvGrpSpPr/>
          <p:nvPr/>
        </p:nvGrpSpPr>
        <p:grpSpPr>
          <a:xfrm>
            <a:off x="581025" y="3619500"/>
            <a:ext cx="5238900" cy="2190900"/>
            <a:chOff x="0" y="0"/>
            <a:chExt cx="5238900" cy="2190900"/>
          </a:xfrm>
        </p:grpSpPr>
        <p:sp>
          <p:nvSpPr>
            <p:cNvPr id="104" name="Google Shape;104;p15"/>
            <p:cNvSpPr/>
            <p:nvPr/>
          </p:nvSpPr>
          <p:spPr>
            <a:xfrm>
              <a:off x="0" y="0"/>
              <a:ext cx="5238900" cy="2190900"/>
            </a:xfrm>
            <a:prstGeom prst="roundRect">
              <a:avLst>
                <a:gd fmla="val 6956" name="adj"/>
              </a:avLst>
            </a:prstGeom>
            <a:solidFill>
              <a:srgbClr val="0F172A"/>
            </a:solidFill>
            <a:ln cap="flat" cmpd="sng" w="19050">
              <a:solidFill>
                <a:srgbClr val="0EA5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190500" y="190500"/>
              <a:ext cx="1619100" cy="266700"/>
            </a:xfrm>
            <a:prstGeom prst="roundRect">
              <a:avLst>
                <a:gd fmla="val 21428" name="adj"/>
              </a:avLst>
            </a:prstGeom>
            <a:solidFill>
              <a:srgbClr val="0EA5E9">
                <a:alpha val="20000"/>
              </a:srgbClr>
            </a:solidFill>
            <a:ln cap="flat" cmpd="sng" w="9525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5"/>
            <p:cNvSpPr txBox="1"/>
            <p:nvPr/>
          </p:nvSpPr>
          <p:spPr>
            <a:xfrm>
              <a:off x="190500" y="190500"/>
              <a:ext cx="16191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HIỆN ĐẠI (ZTNA/ IAP)</a:t>
              </a:r>
              <a:endParaRPr b="1" sz="10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1905000" y="190500"/>
              <a:ext cx="1047900" cy="266700"/>
            </a:xfrm>
            <a:prstGeom prst="roundRect">
              <a:avLst>
                <a:gd fmla="val 21428" name="adj"/>
              </a:avLst>
            </a:prstGeom>
            <a:solidFill>
              <a:srgbClr val="22C55E">
                <a:alpha val="20000"/>
              </a:srgbClr>
            </a:solidFill>
            <a:ln cap="flat" cmpd="sng" w="9525">
              <a:solidFill>
                <a:srgbClr val="4ADE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5"/>
            <p:cNvSpPr txBox="1"/>
            <p:nvPr/>
          </p:nvSpPr>
          <p:spPr>
            <a:xfrm>
              <a:off x="1905000" y="190500"/>
              <a:ext cx="10479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4ADE80"/>
                  </a:solidFill>
                  <a:latin typeface="Inter"/>
                  <a:ea typeface="Inter"/>
                  <a:cs typeface="Inter"/>
                  <a:sym typeface="Inter"/>
                </a:rPr>
                <a:t>KHUYÊN DÙNG</a:t>
              </a:r>
              <a:endParaRPr b="1" sz="9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09" name="Google Shape;109;p15"/>
          <p:cNvSpPr txBox="1"/>
          <p:nvPr/>
        </p:nvSpPr>
        <p:spPr>
          <a:xfrm>
            <a:off x="771525" y="2047875"/>
            <a:ext cx="4857900" cy="811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• Truy cập:</a:t>
            </a:r>
            <a:r>
              <a:rPr b="0" lang="en-US" sz="15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Tầng mạng (Network-level access).</a:t>
            </a:r>
            <a:endParaRPr b="0" sz="155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• Rủi ro:</a:t>
            </a:r>
            <a:r>
              <a:rPr b="0" lang="en-US" sz="15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Lateral movement, khó quản lý rule tường lửa, trải nghiệm chậm.</a:t>
            </a:r>
            <a:endParaRPr b="0" sz="15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771525" y="4238625"/>
            <a:ext cx="4857900" cy="1050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• Truy cập:</a:t>
            </a:r>
            <a:r>
              <a:rPr b="0" lang="en-US" sz="15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Tầng ứng dụng (App-level) dựa trên Định danh &amp; Ngữ cảnh.</a:t>
            </a:r>
            <a:endParaRPr b="0" sz="155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• Ưu điểm:</a:t>
            </a:r>
            <a:r>
              <a:rPr b="0" lang="en-US" sz="15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Ẩn app khỏi Internet, không cần VPN client, bảo mật tối ưu.</a:t>
            </a:r>
            <a:endParaRPr b="0" sz="155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771525" y="581025"/>
            <a:ext cx="1138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0EA5E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VPN truyền thống vs ZTNA / Identity-aware Proxy 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581025" y="581025"/>
            <a:ext cx="57300" cy="5049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581025" y="6000750"/>
            <a:ext cx="11030100" cy="392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171450" spcFirstLastPara="1" rIns="171450" wrap="square" tIns="952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Lựa chọn tối ưu: </a:t>
            </a:r>
            <a:r>
              <a:rPr b="1" lang="en-US" sz="13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ZTNA</a:t>
            </a:r>
            <a:r>
              <a:rPr b="0" lang="en-US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dành cho Team Vận hành mỏng giúp giảm tải quản trị Network Rules.</a:t>
            </a:r>
            <a:endParaRPr b="0" sz="13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766887"/>
            <a:ext cx="3931146" cy="421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97921" y="1766887"/>
            <a:ext cx="3931146" cy="421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14817" y="1766887"/>
            <a:ext cx="2596306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923925" y="2814637"/>
            <a:ext cx="340761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IAM &amp; SSO Foundation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923925" y="3309937"/>
            <a:ext cx="3245346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Sử dụng </a:t>
            </a:r>
            <a:r>
              <a:rPr b="1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Central IdP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(Keycloak, Entra ID).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• Tích hợp </a:t>
            </a:r>
            <a:r>
              <a:rPr b="1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SSO (OIDC/SAML)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cho 100% ứng dụng nội bộ.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• Thực thi </a:t>
            </a:r>
            <a:r>
              <a:rPr b="1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MFA bắt buộc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dựa trên vai trò (RBAC).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5140821" y="2814637"/>
            <a:ext cx="340761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PAM cho Quản trị viên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5140821" y="3309937"/>
            <a:ext cx="3245346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JIT Access: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Không cấp quyền Admin vĩnh viễn.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Vaulting: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Quản lý tập trung secrets, DB credentials, K8s tokens.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Audit: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Ghi hình/audit log SSH và truy cập Database.</a:t>
            </a:r>
            <a:endParaRPr/>
          </a:p>
        </p:txBody>
      </p:sp>
      <p:pic>
        <p:nvPicPr>
          <p:cNvPr descr="image.png" id="126" name="Google Shape;12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3925" y="2147887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40821" y="2147887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24342" y="1776412"/>
            <a:ext cx="2577256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771525" y="581025"/>
            <a:ext cx="1138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0EA5E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IAM/SSO + PAM Foundation </a:t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581025" y="581025"/>
            <a:ext cx="57150" cy="5048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490662"/>
            <a:ext cx="3486150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1490662"/>
            <a:ext cx="3486150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4825" y="1490662"/>
            <a:ext cx="3486150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86955" y="4348162"/>
            <a:ext cx="661794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971550" y="1881187"/>
            <a:ext cx="270510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100%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971550" y="2709862"/>
            <a:ext cx="2705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Workloads SSO/ZTNA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971550" y="3005137"/>
            <a:ext cx="2705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Đo lường tiến độ chuyển đổi và thu hẹp bề mặt tấn công (Attack Surface).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4743450" y="1881187"/>
            <a:ext cx="270510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&lt;4h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4743450" y="2709862"/>
            <a:ext cx="2705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MTTR Misconfigurations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4743450" y="3005137"/>
            <a:ext cx="2705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Đánh giá hiệu quả phản ứng của team SecOps trước rủi ro (đặc biệt trên K8s).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8515350" y="1881187"/>
            <a:ext cx="270510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8515350" y="2709862"/>
            <a:ext cx="2705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Standing Privileges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8515350" y="3005137"/>
            <a:ext cx="2705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Mục tiêu loại bỏ quyền admin vĩnh viễn chưa qua quản lý PAM (Insider Threat).</a:t>
            </a:r>
            <a:endParaRPr/>
          </a:p>
        </p:txBody>
      </p:sp>
      <p:pic>
        <p:nvPicPr>
          <p:cNvPr descr="image.png" id="149" name="Google Shape;14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96480" y="4357687"/>
            <a:ext cx="6598890" cy="188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771525" y="581025"/>
            <a:ext cx="1138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0EA5E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KPI/Metrics</a:t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581025" y="581025"/>
            <a:ext cx="57150" cy="5048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2004288" y="3073054"/>
            <a:ext cx="8183400" cy="7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EA5E9"/>
                </a:solidFill>
                <a:latin typeface="Roboto"/>
                <a:ea typeface="Roboto"/>
                <a:cs typeface="Roboto"/>
                <a:sym typeface="Roboto"/>
              </a:rPr>
              <a:t>Thanks You</a:t>
            </a:r>
            <a:br>
              <a:rPr b="1" lang="en-US" sz="4000">
                <a:solidFill>
                  <a:srgbClr val="0EA5E9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